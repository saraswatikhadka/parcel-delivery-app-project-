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7" r:id="rId8"/>
    <p:sldId id="270" r:id="rId9"/>
    <p:sldId id="269"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11/16/2025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126" y="1258957"/>
            <a:ext cx="8915399" cy="1358320"/>
          </a:xfrm>
        </p:spPr>
        <p:txBody>
          <a:bodyPr>
            <a:normAutofit/>
          </a:bodyPr>
          <a:lstStyle/>
          <a:p>
            <a:pPr algn="ctr"/>
            <a:r>
              <a:rPr lang="en-GB" sz="6000" b="1" dirty="0" smtClean="0">
                <a:solidFill>
                  <a:schemeClr val="tx1"/>
                </a:solidFill>
                <a:latin typeface="Times New Roman" panose="02020603050405020304" pitchFamily="18" charset="0"/>
                <a:cs typeface="Times New Roman" panose="02020603050405020304" pitchFamily="18" charset="0"/>
              </a:rPr>
              <a:t>PARCEL APP</a:t>
            </a:r>
            <a:br>
              <a:rPr lang="en-GB" sz="6000" b="1" dirty="0" smtClean="0">
                <a:solidFill>
                  <a:schemeClr val="tx1"/>
                </a:solidFill>
                <a:latin typeface="Times New Roman" panose="02020603050405020304" pitchFamily="18" charset="0"/>
                <a:cs typeface="Times New Roman" panose="02020603050405020304" pitchFamily="18" charset="0"/>
              </a:rPr>
            </a:br>
            <a:r>
              <a:rPr lang="en-GB" sz="1800" b="1" dirty="0">
                <a:solidFill>
                  <a:schemeClr val="tx1"/>
                </a:solidFill>
              </a:rPr>
              <a:t>A modern mobile solution for parcel delivery and tracking</a:t>
            </a:r>
            <a:endParaRPr lang="en-GB" sz="1800" b="1"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pPr algn="r"/>
            <a:r>
              <a:rPr lang="en-GB" sz="2400" b="1" dirty="0" smtClean="0">
                <a:solidFill>
                  <a:schemeClr val="tx1"/>
                </a:solidFill>
                <a:latin typeface="Times New Roman" panose="02020603050405020304" pitchFamily="18" charset="0"/>
                <a:cs typeface="Times New Roman" panose="02020603050405020304" pitchFamily="18" charset="0"/>
              </a:rPr>
              <a:t>SUJATA MANDAL</a:t>
            </a:r>
          </a:p>
          <a:p>
            <a:pPr algn="r"/>
            <a:r>
              <a:rPr lang="en-GB" sz="2400" b="1" dirty="0" smtClean="0">
                <a:solidFill>
                  <a:schemeClr val="tx1"/>
                </a:solidFill>
                <a:latin typeface="Times New Roman" panose="02020603050405020304" pitchFamily="18" charset="0"/>
                <a:cs typeface="Times New Roman" panose="02020603050405020304" pitchFamily="18" charset="0"/>
              </a:rPr>
              <a:t>SARASWATI KHADKA</a:t>
            </a:r>
            <a:endParaRPr lang="en-GB" sz="2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0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400" b="1" dirty="0" smtClean="0">
                <a:solidFill>
                  <a:schemeClr val="tx1"/>
                </a:solidFill>
                <a:latin typeface="Times New Roman" panose="02020603050405020304" pitchFamily="18" charset="0"/>
                <a:cs typeface="Times New Roman" panose="02020603050405020304" pitchFamily="18" charset="0"/>
              </a:rPr>
              <a:t>INTRODUCTION</a:t>
            </a:r>
            <a:endParaRPr lang="en-GB" sz="44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GB" sz="2000" dirty="0" smtClean="0">
                <a:latin typeface="Times New Roman" panose="02020603050405020304" pitchFamily="18" charset="0"/>
                <a:cs typeface="Times New Roman" panose="02020603050405020304" pitchFamily="18" charset="0"/>
              </a:rPr>
              <a:t>A </a:t>
            </a:r>
            <a:r>
              <a:rPr lang="en-GB" sz="2000" dirty="0">
                <a:latin typeface="Times New Roman" panose="02020603050405020304" pitchFamily="18" charset="0"/>
                <a:cs typeface="Times New Roman" panose="02020603050405020304" pitchFamily="18" charset="0"/>
              </a:rPr>
              <a:t>Parcel App is a cross-platform mobile application built using Flutter that allows users to create, book, track, and manage parcel deliveries. The app connects senders, couriers, and receivers in a streamlined workflow with features such as live tracking, secure payment, route optimization, notifications, and order management. It is designed to be user-friendly, scalable, and suitable for small courier services up to enterprise logistics.</a:t>
            </a:r>
          </a:p>
          <a:p>
            <a:r>
              <a:rPr lang="en-GB" sz="2000" b="1" dirty="0">
                <a:latin typeface="Times New Roman" panose="02020603050405020304" pitchFamily="18" charset="0"/>
                <a:cs typeface="Times New Roman" panose="02020603050405020304" pitchFamily="18" charset="0"/>
              </a:rPr>
              <a:t>Key highlights:</a:t>
            </a:r>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Cross-platform (Android &amp; iOS) using a single codebase.</a:t>
            </a:r>
          </a:p>
          <a:p>
            <a:r>
              <a:rPr lang="en-GB" sz="2000" dirty="0">
                <a:latin typeface="Times New Roman" panose="02020603050405020304" pitchFamily="18" charset="0"/>
                <a:cs typeface="Times New Roman" panose="02020603050405020304" pitchFamily="18" charset="0"/>
              </a:rPr>
              <a:t>Real-time tracking and status updates.</a:t>
            </a:r>
          </a:p>
          <a:p>
            <a:r>
              <a:rPr lang="en-GB" sz="2000" dirty="0">
                <a:latin typeface="Times New Roman" panose="02020603050405020304" pitchFamily="18" charset="0"/>
                <a:cs typeface="Times New Roman" panose="02020603050405020304" pitchFamily="18" charset="0"/>
              </a:rPr>
              <a:t>In-app payment and order lifecycle management.</a:t>
            </a:r>
          </a:p>
          <a:p>
            <a:endParaRPr lang="en-GB" dirty="0"/>
          </a:p>
        </p:txBody>
      </p:sp>
    </p:spTree>
    <p:extLst>
      <p:ext uri="{BB962C8B-B14F-4D97-AF65-F5344CB8AC3E}">
        <p14:creationId xmlns:p14="http://schemas.microsoft.com/office/powerpoint/2010/main" val="307855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26394"/>
          </a:xfrm>
        </p:spPr>
        <p:txBody>
          <a:bodyPr>
            <a:noAutofit/>
          </a:bodyPr>
          <a:lstStyle/>
          <a:p>
            <a:r>
              <a:rPr lang="en-GB" b="1" dirty="0">
                <a:solidFill>
                  <a:schemeClr val="tx1"/>
                </a:solidFill>
                <a:latin typeface="Times New Roman" panose="02020603050405020304" pitchFamily="18" charset="0"/>
                <a:cs typeface="Times New Roman" panose="02020603050405020304" pitchFamily="18" charset="0"/>
              </a:rPr>
              <a:t>PROBLEM STATEMENT </a:t>
            </a:r>
            <a:r>
              <a:rPr lang="en-AU" sz="4400" b="1" dirty="0">
                <a:solidFill>
                  <a:schemeClr val="tx1"/>
                </a:solidFill>
              </a:rPr>
              <a:t/>
            </a:r>
            <a:br>
              <a:rPr lang="en-AU" sz="4400" b="1" dirty="0">
                <a:solidFill>
                  <a:schemeClr val="tx1"/>
                </a:solidFill>
              </a:rPr>
            </a:br>
            <a:endParaRPr lang="en-GB" sz="4400" dirty="0">
              <a:solidFill>
                <a:schemeClr val="tx1"/>
              </a:solidFill>
            </a:endParaRPr>
          </a:p>
        </p:txBody>
      </p:sp>
      <p:sp>
        <p:nvSpPr>
          <p:cNvPr id="3" name="Content Placeholder 2"/>
          <p:cNvSpPr>
            <a:spLocks noGrp="1"/>
          </p:cNvSpPr>
          <p:nvPr>
            <p:ph idx="1"/>
          </p:nvPr>
        </p:nvSpPr>
        <p:spPr>
          <a:xfrm>
            <a:off x="2589212" y="1643270"/>
            <a:ext cx="8915400" cy="5214730"/>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Despite growing demand for fast and reliable parcel services, many small-to-medium courier providers face</a:t>
            </a: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Inefficient manual order handling</a:t>
            </a:r>
            <a:r>
              <a:rPr lang="en-GB" dirty="0">
                <a:latin typeface="Times New Roman" panose="02020603050405020304" pitchFamily="18" charset="0"/>
                <a:cs typeface="Times New Roman" panose="02020603050405020304" pitchFamily="18" charset="0"/>
              </a:rPr>
              <a:t> — paper logs, phone calls, and spreadsheets that cause delays and errors.</a:t>
            </a:r>
          </a:p>
          <a:p>
            <a:r>
              <a:rPr lang="en-GB" b="1" dirty="0">
                <a:latin typeface="Times New Roman" panose="02020603050405020304" pitchFamily="18" charset="0"/>
                <a:cs typeface="Times New Roman" panose="02020603050405020304" pitchFamily="18" charset="0"/>
              </a:rPr>
              <a:t>Poor tracking transparency</a:t>
            </a:r>
            <a:r>
              <a:rPr lang="en-GB" dirty="0">
                <a:latin typeface="Times New Roman" panose="02020603050405020304" pitchFamily="18" charset="0"/>
                <a:cs typeface="Times New Roman" panose="02020603050405020304" pitchFamily="18" charset="0"/>
              </a:rPr>
              <a:t> — senders and receivers lack real-time visibility into parcel location and status.</a:t>
            </a:r>
          </a:p>
          <a:p>
            <a:r>
              <a:rPr lang="en-GB" b="1" dirty="0">
                <a:latin typeface="Times New Roman" panose="02020603050405020304" pitchFamily="18" charset="0"/>
                <a:cs typeface="Times New Roman" panose="02020603050405020304" pitchFamily="18" charset="0"/>
              </a:rPr>
              <a:t>Inadequate route &amp; resource optimization</a:t>
            </a:r>
            <a:r>
              <a:rPr lang="en-GB" dirty="0">
                <a:latin typeface="Times New Roman" panose="02020603050405020304" pitchFamily="18" charset="0"/>
                <a:cs typeface="Times New Roman" panose="02020603050405020304" pitchFamily="18" charset="0"/>
              </a:rPr>
              <a:t> — higher fuel/time costs and inefficient assignments.</a:t>
            </a:r>
          </a:p>
          <a:p>
            <a:r>
              <a:rPr lang="en-GB" b="1" dirty="0">
                <a:latin typeface="Times New Roman" panose="02020603050405020304" pitchFamily="18" charset="0"/>
                <a:cs typeface="Times New Roman" panose="02020603050405020304" pitchFamily="18" charset="0"/>
              </a:rPr>
              <a:t>Limited customer communication</a:t>
            </a:r>
            <a:r>
              <a:rPr lang="en-GB" dirty="0">
                <a:latin typeface="Times New Roman" panose="02020603050405020304" pitchFamily="18" charset="0"/>
                <a:cs typeface="Times New Roman" panose="02020603050405020304" pitchFamily="18" charset="0"/>
              </a:rPr>
              <a:t> — no automated notifications or delivery confirmations.</a:t>
            </a:r>
          </a:p>
          <a:p>
            <a:r>
              <a:rPr lang="en-GB" b="1" dirty="0">
                <a:latin typeface="Times New Roman" panose="02020603050405020304" pitchFamily="18" charset="0"/>
                <a:cs typeface="Times New Roman" panose="02020603050405020304" pitchFamily="18" charset="0"/>
              </a:rPr>
              <a:t>Payment friction &amp; security concerns</a:t>
            </a:r>
            <a:r>
              <a:rPr lang="en-GB" dirty="0">
                <a:latin typeface="Times New Roman" panose="02020603050405020304" pitchFamily="18" charset="0"/>
                <a:cs typeface="Times New Roman" panose="02020603050405020304" pitchFamily="18" charset="0"/>
              </a:rPr>
              <a:t> — cash-only or unsecured payment flows reduce trust and sales</a:t>
            </a:r>
            <a:r>
              <a:rPr lang="en-GB" dirty="0" smtClean="0">
                <a:latin typeface="Times New Roman" panose="02020603050405020304" pitchFamily="18" charset="0"/>
                <a:cs typeface="Times New Roman" panose="02020603050405020304" pitchFamily="18" charset="0"/>
              </a:rPr>
              <a:t>.</a:t>
            </a:r>
          </a:p>
          <a:p>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These problems reduce customer satisfaction, increase operational costs, and limit growth.</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729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1"/>
                </a:solidFill>
                <a:latin typeface="Times New Roman" panose="02020603050405020304" pitchFamily="18" charset="0"/>
                <a:cs typeface="Times New Roman" panose="02020603050405020304" pitchFamily="18" charset="0"/>
              </a:rPr>
              <a:t>OBJECTIVES</a:t>
            </a:r>
            <a:r>
              <a:rPr lang="en-AU" b="1" dirty="0">
                <a:solidFill>
                  <a:schemeClr val="tx1"/>
                </a:solidFill>
                <a:latin typeface="Times New Roman" panose="02020603050405020304" pitchFamily="18" charset="0"/>
                <a:cs typeface="Times New Roman" panose="02020603050405020304" pitchFamily="18" charset="0"/>
              </a:rPr>
              <a:t/>
            </a:r>
            <a:br>
              <a:rPr lang="en-AU" b="1" dirty="0">
                <a:solidFill>
                  <a:schemeClr val="tx1"/>
                </a:solidFill>
                <a:latin typeface="Times New Roman" panose="02020603050405020304" pitchFamily="18" charset="0"/>
                <a:cs typeface="Times New Roman" panose="02020603050405020304" pitchFamily="18" charset="0"/>
              </a:rPr>
            </a:br>
            <a:endParaRPr lang="en-GB" dirty="0">
              <a:solidFill>
                <a:schemeClr val="tx1"/>
              </a:solidFill>
            </a:endParaRPr>
          </a:p>
        </p:txBody>
      </p:sp>
      <p:sp>
        <p:nvSpPr>
          <p:cNvPr id="3" name="Content Placeholder 2"/>
          <p:cNvSpPr>
            <a:spLocks noGrp="1"/>
          </p:cNvSpPr>
          <p:nvPr>
            <p:ph idx="1"/>
          </p:nvPr>
        </p:nvSpPr>
        <p:spPr>
          <a:xfrm>
            <a:off x="2589212" y="1550504"/>
            <a:ext cx="8915400" cy="4360718"/>
          </a:xfrm>
        </p:spPr>
        <p:txBody>
          <a:bodyPr/>
          <a:lstStyle/>
          <a:p>
            <a:pPr marL="0" indent="0">
              <a:buNone/>
            </a:pPr>
            <a:r>
              <a:rPr lang="en-GB" b="1" dirty="0" smtClean="0">
                <a:latin typeface="Times New Roman" panose="02020603050405020304" pitchFamily="18" charset="0"/>
                <a:cs typeface="Times New Roman" panose="02020603050405020304" pitchFamily="18" charset="0"/>
              </a:rPr>
              <a:t>Primary Objective</a:t>
            </a:r>
          </a:p>
          <a:p>
            <a:pPr marL="0" indent="0">
              <a:buNone/>
            </a:pPr>
            <a:r>
              <a:rPr lang="en-GB" dirty="0" smtClean="0">
                <a:latin typeface="Times New Roman" panose="02020603050405020304" pitchFamily="18" charset="0"/>
                <a:cs typeface="Times New Roman" panose="02020603050405020304" pitchFamily="18" charset="0"/>
              </a:rPr>
              <a:t>To design and implement a secure, efficient, and user-friendly Flutter-based parcel delivery app that automates booking, tracking, routing, and payments for courier services.</a:t>
            </a:r>
          </a:p>
          <a:p>
            <a:pPr marL="0" indent="0">
              <a:buNone/>
            </a:pPr>
            <a:r>
              <a:rPr lang="en-GB" b="1" dirty="0" smtClean="0">
                <a:latin typeface="Times New Roman" panose="02020603050405020304" pitchFamily="18" charset="0"/>
                <a:cs typeface="Times New Roman" panose="02020603050405020304" pitchFamily="18" charset="0"/>
              </a:rPr>
              <a:t>Specific Objectives</a:t>
            </a:r>
          </a:p>
          <a:p>
            <a:r>
              <a:rPr lang="en-GB" dirty="0" smtClean="0">
                <a:latin typeface="Times New Roman" panose="02020603050405020304" pitchFamily="18" charset="0"/>
                <a:cs typeface="Times New Roman" panose="02020603050405020304" pitchFamily="18" charset="0"/>
              </a:rPr>
              <a:t>Provide an intuitive UI for customers to book and pay for deliveries.</a:t>
            </a:r>
          </a:p>
          <a:p>
            <a:r>
              <a:rPr lang="en-GB" dirty="0" smtClean="0">
                <a:latin typeface="Times New Roman" panose="02020603050405020304" pitchFamily="18" charset="0"/>
                <a:cs typeface="Times New Roman" panose="02020603050405020304" pitchFamily="18" charset="0"/>
              </a:rPr>
              <a:t>Enable real-time parcel tracking with location updates for customers and admins.</a:t>
            </a:r>
          </a:p>
          <a:p>
            <a:r>
              <a:rPr lang="en-GB" dirty="0" smtClean="0">
                <a:latin typeface="Times New Roman" panose="02020603050405020304" pitchFamily="18" charset="0"/>
                <a:cs typeface="Times New Roman" panose="02020603050405020304" pitchFamily="18" charset="0"/>
              </a:rPr>
              <a:t>Implement courier assignment and basic route optimization to reduce delivery time and cost.</a:t>
            </a:r>
          </a:p>
          <a:p>
            <a:r>
              <a:rPr lang="en-GB" dirty="0" smtClean="0">
                <a:latin typeface="Times New Roman" panose="02020603050405020304" pitchFamily="18" charset="0"/>
                <a:cs typeface="Times New Roman" panose="02020603050405020304" pitchFamily="18" charset="0"/>
              </a:rPr>
              <a:t>Offer admin dashboards for order, courier, and revenue management.</a:t>
            </a:r>
          </a:p>
          <a:p>
            <a:r>
              <a:rPr lang="en-GB" dirty="0" smtClean="0">
                <a:latin typeface="Times New Roman" panose="02020603050405020304" pitchFamily="18" charset="0"/>
                <a:cs typeface="Times New Roman" panose="02020603050405020304" pitchFamily="18" charset="0"/>
              </a:rPr>
              <a:t>Ensure data security, user authentication, and transaction safety.</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9826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800" b="1" dirty="0" smtClean="0">
                <a:solidFill>
                  <a:schemeClr val="tx1"/>
                </a:solidFill>
              </a:rPr>
              <a:t>SCOPE</a:t>
            </a:r>
            <a:endParaRPr lang="en-GB" sz="4800" b="1" dirty="0">
              <a:solidFill>
                <a:schemeClr val="tx1"/>
              </a:solidFill>
            </a:endParaRPr>
          </a:p>
        </p:txBody>
      </p:sp>
      <p:sp>
        <p:nvSpPr>
          <p:cNvPr id="4" name="Rectangle 1"/>
          <p:cNvSpPr>
            <a:spLocks noGrp="1" noChangeArrowheads="1"/>
          </p:cNvSpPr>
          <p:nvPr>
            <p:ph idx="1"/>
          </p:nvPr>
        </p:nvSpPr>
        <p:spPr bwMode="auto">
          <a:xfrm>
            <a:off x="2483194" y="2150955"/>
            <a:ext cx="886066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(sender/receiver) registration and profiles.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Courier registration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Order creation, pickup scheduling, and status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GPS-based live tracking and map 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In-app payments (mobile wallets / card / COD flag).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Push notifications and SMS/email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Admin panel for reporting and order management.</a:t>
            </a:r>
          </a:p>
        </p:txBody>
      </p:sp>
    </p:spTree>
    <p:extLst>
      <p:ext uri="{BB962C8B-B14F-4D97-AF65-F5344CB8AC3E}">
        <p14:creationId xmlns:p14="http://schemas.microsoft.com/office/powerpoint/2010/main" val="852693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583" y="677119"/>
            <a:ext cx="8911687" cy="1280890"/>
          </a:xfrm>
        </p:spPr>
        <p:txBody>
          <a:bodyPr/>
          <a:lstStyle/>
          <a:p>
            <a:r>
              <a:rPr lang="en-GB" b="1" dirty="0">
                <a:solidFill>
                  <a:schemeClr val="tx1"/>
                </a:solidFill>
                <a:latin typeface="Times New Roman" panose="02020603050405020304" pitchFamily="18" charset="0"/>
                <a:cs typeface="Times New Roman" panose="02020603050405020304" pitchFamily="18" charset="0"/>
              </a:rPr>
              <a:t>FEASIBILITY STUDY</a:t>
            </a:r>
            <a:endParaRPr lang="en-GB" dirty="0">
              <a:solidFill>
                <a:schemeClr val="tx1"/>
              </a:solidFill>
            </a:endParaRPr>
          </a:p>
        </p:txBody>
      </p:sp>
      <p:sp>
        <p:nvSpPr>
          <p:cNvPr id="3" name="Content Placeholder 2"/>
          <p:cNvSpPr>
            <a:spLocks noGrp="1"/>
          </p:cNvSpPr>
          <p:nvPr>
            <p:ph idx="1"/>
          </p:nvPr>
        </p:nvSpPr>
        <p:spPr>
          <a:xfrm>
            <a:off x="2027583" y="1666461"/>
            <a:ext cx="9477029" cy="5320748"/>
          </a:xfrm>
        </p:spPr>
        <p:txBody>
          <a:bodyPr/>
          <a:lstStyle/>
          <a:p>
            <a:pPr marL="0" indent="0">
              <a:buNone/>
            </a:pPr>
            <a:r>
              <a:rPr lang="en-GB" b="1" dirty="0" smtClean="0">
                <a:latin typeface="Times New Roman" panose="02020603050405020304" pitchFamily="18" charset="0"/>
                <a:cs typeface="Times New Roman" panose="02020603050405020304" pitchFamily="18" charset="0"/>
              </a:rPr>
              <a:t>1. Technical </a:t>
            </a:r>
            <a:r>
              <a:rPr lang="en-GB" b="1" dirty="0">
                <a:latin typeface="Times New Roman" panose="02020603050405020304" pitchFamily="18" charset="0"/>
                <a:cs typeface="Times New Roman" panose="02020603050405020304" pitchFamily="18" charset="0"/>
              </a:rPr>
              <a:t>Feasibility</a:t>
            </a:r>
          </a:p>
          <a:p>
            <a:pPr marL="0" indent="0">
              <a:buNone/>
            </a:pPr>
            <a:r>
              <a:rPr lang="en-GB" dirty="0">
                <a:latin typeface="Times New Roman" panose="02020603050405020304" pitchFamily="18" charset="0"/>
                <a:cs typeface="Times New Roman" panose="02020603050405020304" pitchFamily="18" charset="0"/>
              </a:rPr>
              <a:t>The Flutter Parcel App is technically feasible as it uses Flutter and Dart to develop a single codebase that runs smoothly on both Android and iOS platforms. It integrates essential tools like Firebase for authentication, database, and notifications, along with Google Maps for real-time parcel tracking</a:t>
            </a:r>
            <a:r>
              <a:rPr lang="en-GB" dirty="0" smtClean="0">
                <a:latin typeface="Times New Roman" panose="02020603050405020304" pitchFamily="18" charset="0"/>
                <a:cs typeface="Times New Roman" panose="02020603050405020304" pitchFamily="18" charset="0"/>
              </a:rPr>
              <a:t>.</a:t>
            </a:r>
          </a:p>
          <a:p>
            <a:pPr marL="0" indent="0">
              <a:buNone/>
            </a:pPr>
            <a:r>
              <a:rPr lang="en-GB" b="1" dirty="0" smtClean="0">
                <a:latin typeface="Times New Roman" panose="02020603050405020304" pitchFamily="18" charset="0"/>
                <a:cs typeface="Times New Roman" panose="02020603050405020304" pitchFamily="18" charset="0"/>
              </a:rPr>
              <a:t>2. Economic </a:t>
            </a:r>
            <a:r>
              <a:rPr lang="en-GB" b="1" dirty="0">
                <a:latin typeface="Times New Roman" panose="02020603050405020304" pitchFamily="18" charset="0"/>
                <a:cs typeface="Times New Roman" panose="02020603050405020304" pitchFamily="18" charset="0"/>
              </a:rPr>
              <a:t>Feasibility</a:t>
            </a:r>
          </a:p>
          <a:p>
            <a:pPr marL="0" indent="0">
              <a:buNone/>
            </a:pPr>
            <a:r>
              <a:rPr lang="en-GB" dirty="0">
                <a:latin typeface="Times New Roman" panose="02020603050405020304" pitchFamily="18" charset="0"/>
                <a:cs typeface="Times New Roman" panose="02020603050405020304" pitchFamily="18" charset="0"/>
              </a:rPr>
              <a:t>Economically, the project is viable because the development and operational costs are relatively low compared to its long-term benefits. Using open-source technologies like Flutter and Firebase reduces licensing expenses, while automation of booking, tracking, and payment processes minimizes manual </a:t>
            </a:r>
            <a:r>
              <a:rPr lang="en-GB" dirty="0" smtClean="0">
                <a:latin typeface="Times New Roman" panose="02020603050405020304" pitchFamily="18" charset="0"/>
                <a:cs typeface="Times New Roman" panose="02020603050405020304" pitchFamily="18" charset="0"/>
              </a:rPr>
              <a:t>labour </a:t>
            </a:r>
            <a:r>
              <a:rPr lang="en-GB" dirty="0">
                <a:latin typeface="Times New Roman" panose="02020603050405020304" pitchFamily="18" charset="0"/>
                <a:cs typeface="Times New Roman" panose="02020603050405020304" pitchFamily="18" charset="0"/>
              </a:rPr>
              <a:t>costs.</a:t>
            </a:r>
          </a:p>
          <a:p>
            <a:pPr marL="0" indent="0">
              <a:buNone/>
            </a:pPr>
            <a:r>
              <a:rPr lang="en-GB" b="1" dirty="0" smtClean="0">
                <a:latin typeface="Times New Roman" panose="02020603050405020304" pitchFamily="18" charset="0"/>
                <a:cs typeface="Times New Roman" panose="02020603050405020304" pitchFamily="18" charset="0"/>
              </a:rPr>
              <a:t>3. Operational </a:t>
            </a:r>
            <a:r>
              <a:rPr lang="en-GB" b="1" dirty="0">
                <a:latin typeface="Times New Roman" panose="02020603050405020304" pitchFamily="18" charset="0"/>
                <a:cs typeface="Times New Roman" panose="02020603050405020304" pitchFamily="18" charset="0"/>
              </a:rPr>
              <a:t>Feasibility</a:t>
            </a:r>
          </a:p>
          <a:p>
            <a:pPr marL="0" indent="0">
              <a:buNone/>
            </a:pPr>
            <a:r>
              <a:rPr lang="en-GB" dirty="0">
                <a:latin typeface="Times New Roman" panose="02020603050405020304" pitchFamily="18" charset="0"/>
                <a:cs typeface="Times New Roman" panose="02020603050405020304" pitchFamily="18" charset="0"/>
              </a:rPr>
              <a:t>Operationally, the app is easy to implement and manage. Couriers, administrators, and customers can quickly adapt due to its intuitive interface and automated workflow. The system simplifies parcel management, reduces errors, and enhances communication through instant notifications and live tracking.</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212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METHODOLOGY </a:t>
            </a:r>
            <a:endParaRPr lang="en-GB" dirty="0"/>
          </a:p>
        </p:txBody>
      </p:sp>
      <p:sp>
        <p:nvSpPr>
          <p:cNvPr id="5" name="Content Placeholder 4"/>
          <p:cNvSpPr>
            <a:spLocks noGrp="1"/>
          </p:cNvSpPr>
          <p:nvPr>
            <p:ph idx="1"/>
          </p:nvPr>
        </p:nvSpPr>
        <p:spPr/>
        <p:txBody>
          <a:bodyPr/>
          <a:lstStyle/>
          <a:p>
            <a:pPr marL="0" indent="0">
              <a:buNone/>
            </a:pPr>
            <a:endParaRPr lang="en-GB"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4137025" y="2305367"/>
            <a:ext cx="3917950" cy="2783468"/>
          </a:xfrm>
          <a:prstGeom prst="rect">
            <a:avLst/>
          </a:prstGeom>
          <a:noFill/>
          <a:ln>
            <a:noFill/>
          </a:ln>
        </p:spPr>
      </p:pic>
    </p:spTree>
    <p:extLst>
      <p:ext uri="{BB962C8B-B14F-4D97-AF65-F5344CB8AC3E}">
        <p14:creationId xmlns:p14="http://schemas.microsoft.com/office/powerpoint/2010/main" val="3517645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404" y="186788"/>
            <a:ext cx="8911687" cy="820377"/>
          </a:xfrm>
        </p:spPr>
        <p:txBody>
          <a:bodyPr/>
          <a:lstStyle/>
          <a:p>
            <a:r>
              <a:rPr lang="en-GB" dirty="0" smtClean="0"/>
              <a:t>ER-DAIGRAM</a:t>
            </a:r>
            <a:endParaRPr lang="en-GB"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994990" y="1331912"/>
            <a:ext cx="5420139" cy="5526088"/>
          </a:xfrm>
          <a:prstGeom prst="rect">
            <a:avLst/>
          </a:prstGeom>
        </p:spPr>
      </p:pic>
    </p:spTree>
    <p:extLst>
      <p:ext uri="{BB962C8B-B14F-4D97-AF65-F5344CB8AC3E}">
        <p14:creationId xmlns:p14="http://schemas.microsoft.com/office/powerpoint/2010/main" val="30396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GANTT CHART</a:t>
            </a:r>
            <a:endParaRPr lang="en-GB" dirty="0"/>
          </a:p>
        </p:txBody>
      </p:sp>
      <p:pic>
        <p:nvPicPr>
          <p:cNvPr id="4" name="Content Placeholder 3"/>
          <p:cNvPicPr>
            <a:picLocks noGrp="1"/>
          </p:cNvPicPr>
          <p:nvPr>
            <p:ph idx="1"/>
          </p:nvPr>
        </p:nvPicPr>
        <p:blipFill>
          <a:blip r:embed="rId2"/>
          <a:stretch>
            <a:fillRect/>
          </a:stretch>
        </p:blipFill>
        <p:spPr>
          <a:xfrm>
            <a:off x="1966360" y="2187315"/>
            <a:ext cx="8915400" cy="3697324"/>
          </a:xfrm>
          <a:prstGeom prst="rect">
            <a:avLst/>
          </a:prstGeom>
        </p:spPr>
      </p:pic>
    </p:spTree>
    <p:extLst>
      <p:ext uri="{BB962C8B-B14F-4D97-AF65-F5344CB8AC3E}">
        <p14:creationId xmlns:p14="http://schemas.microsoft.com/office/powerpoint/2010/main" val="636627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098673"/>
          </a:xfrm>
        </p:spPr>
        <p:txBody>
          <a:bodyPr/>
          <a:lstStyle/>
          <a:p>
            <a:r>
              <a:rPr lang="en-GB" b="1" dirty="0" smtClean="0">
                <a:solidFill>
                  <a:schemeClr val="tx1"/>
                </a:solidFill>
              </a:rPr>
              <a:t>REQUIRMENT ANALYSIS</a:t>
            </a:r>
            <a:endParaRPr lang="en-GB" b="1" dirty="0">
              <a:solidFill>
                <a:schemeClr val="tx1"/>
              </a:solidFill>
            </a:endParaRPr>
          </a:p>
        </p:txBody>
      </p:sp>
      <p:sp>
        <p:nvSpPr>
          <p:cNvPr id="3" name="Content Placeholder 2"/>
          <p:cNvSpPr>
            <a:spLocks noGrp="1"/>
          </p:cNvSpPr>
          <p:nvPr>
            <p:ph idx="1"/>
          </p:nvPr>
        </p:nvSpPr>
        <p:spPr/>
        <p:txBody>
          <a:bodyPr>
            <a:normAutofit lnSpcReduction="10000"/>
          </a:bodyPr>
          <a:lstStyle/>
          <a:p>
            <a:pPr>
              <a:buFont typeface="+mj-lt"/>
              <a:buAutoNum type="arabicPeriod"/>
            </a:pPr>
            <a:r>
              <a:rPr lang="en-GB" b="1" dirty="0" smtClean="0">
                <a:latin typeface="Times New Roman" panose="02020603050405020304" pitchFamily="18" charset="0"/>
                <a:cs typeface="Times New Roman" panose="02020603050405020304" pitchFamily="18" charset="0"/>
              </a:rPr>
              <a:t>Functional </a:t>
            </a:r>
            <a:r>
              <a:rPr lang="en-GB" b="1" dirty="0">
                <a:latin typeface="Times New Roman" panose="02020603050405020304" pitchFamily="18" charset="0"/>
                <a:cs typeface="Times New Roman" panose="02020603050405020304" pitchFamily="18" charset="0"/>
              </a:rPr>
              <a:t>Requirements</a:t>
            </a:r>
          </a:p>
          <a:p>
            <a:r>
              <a:rPr lang="en-GB" dirty="0">
                <a:latin typeface="Times New Roman" panose="02020603050405020304" pitchFamily="18" charset="0"/>
                <a:cs typeface="Times New Roman" panose="02020603050405020304" pitchFamily="18" charset="0"/>
              </a:rPr>
              <a:t>These define the core features and operations of the system:</a:t>
            </a:r>
          </a:p>
          <a:p>
            <a:r>
              <a:rPr lang="en-GB" b="1" dirty="0">
                <a:latin typeface="Times New Roman" panose="02020603050405020304" pitchFamily="18" charset="0"/>
                <a:cs typeface="Times New Roman" panose="02020603050405020304" pitchFamily="18" charset="0"/>
              </a:rPr>
              <a:t>User Management:</a:t>
            </a:r>
            <a:r>
              <a:rPr lang="en-GB" dirty="0">
                <a:latin typeface="Times New Roman" panose="02020603050405020304" pitchFamily="18" charset="0"/>
                <a:cs typeface="Times New Roman" panose="02020603050405020304" pitchFamily="18" charset="0"/>
              </a:rPr>
              <a:t> Registration, login, and profile management for customers, couriers, and admins.</a:t>
            </a:r>
          </a:p>
          <a:p>
            <a:r>
              <a:rPr lang="en-GB" b="1" dirty="0">
                <a:latin typeface="Times New Roman" panose="02020603050405020304" pitchFamily="18" charset="0"/>
                <a:cs typeface="Times New Roman" panose="02020603050405020304" pitchFamily="18" charset="0"/>
              </a:rPr>
              <a:t>Parcel Booking:</a:t>
            </a:r>
            <a:r>
              <a:rPr lang="en-GB" dirty="0">
                <a:latin typeface="Times New Roman" panose="02020603050405020304" pitchFamily="18" charset="0"/>
                <a:cs typeface="Times New Roman" panose="02020603050405020304" pitchFamily="18" charset="0"/>
              </a:rPr>
              <a:t> Users can create delivery requests by entering pickup and drop-off details.</a:t>
            </a:r>
          </a:p>
          <a:p>
            <a:r>
              <a:rPr lang="en-GB" b="1" dirty="0">
                <a:latin typeface="Times New Roman" panose="02020603050405020304" pitchFamily="18" charset="0"/>
                <a:cs typeface="Times New Roman" panose="02020603050405020304" pitchFamily="18" charset="0"/>
              </a:rPr>
              <a:t>Tracking System:</a:t>
            </a:r>
            <a:r>
              <a:rPr lang="en-GB" dirty="0">
                <a:latin typeface="Times New Roman" panose="02020603050405020304" pitchFamily="18" charset="0"/>
                <a:cs typeface="Times New Roman" panose="02020603050405020304" pitchFamily="18" charset="0"/>
              </a:rPr>
              <a:t> Real-time GPS tracking of parcels for both customers and admins.</a:t>
            </a:r>
          </a:p>
          <a:p>
            <a:r>
              <a:rPr lang="en-GB" b="1" dirty="0">
                <a:latin typeface="Times New Roman" panose="02020603050405020304" pitchFamily="18" charset="0"/>
                <a:cs typeface="Times New Roman" panose="02020603050405020304" pitchFamily="18" charset="0"/>
              </a:rPr>
              <a:t>Order Management:</a:t>
            </a:r>
            <a:r>
              <a:rPr lang="en-GB" dirty="0">
                <a:latin typeface="Times New Roman" panose="02020603050405020304" pitchFamily="18" charset="0"/>
                <a:cs typeface="Times New Roman" panose="02020603050405020304" pitchFamily="18" charset="0"/>
              </a:rPr>
              <a:t> Admin can view, update, and manage delivery requests and courier assignments.</a:t>
            </a:r>
          </a:p>
          <a:p>
            <a:r>
              <a:rPr lang="en-GB" b="1" dirty="0">
                <a:latin typeface="Times New Roman" panose="02020603050405020304" pitchFamily="18" charset="0"/>
                <a:cs typeface="Times New Roman" panose="02020603050405020304" pitchFamily="18" charset="0"/>
              </a:rPr>
              <a:t>Payment Integration:</a:t>
            </a:r>
            <a:r>
              <a:rPr lang="en-GB" dirty="0">
                <a:latin typeface="Times New Roman" panose="02020603050405020304" pitchFamily="18" charset="0"/>
                <a:cs typeface="Times New Roman" panose="02020603050405020304" pitchFamily="18" charset="0"/>
              </a:rPr>
              <a:t> Support for online payments (cards, wallets) and cash on delivery options.</a:t>
            </a:r>
          </a:p>
          <a:p>
            <a:endParaRPr lang="en-GB" dirty="0"/>
          </a:p>
        </p:txBody>
      </p:sp>
    </p:spTree>
    <p:extLst>
      <p:ext uri="{BB962C8B-B14F-4D97-AF65-F5344CB8AC3E}">
        <p14:creationId xmlns:p14="http://schemas.microsoft.com/office/powerpoint/2010/main" val="627689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03681" y="940905"/>
            <a:ext cx="8915400" cy="5539408"/>
          </a:xfrm>
        </p:spPr>
        <p:txBody>
          <a:bodyPr/>
          <a:lstStyle/>
          <a:p>
            <a:pPr marL="0" indent="0">
              <a:buNone/>
            </a:pPr>
            <a:r>
              <a:rPr lang="en-GB" b="1" dirty="0">
                <a:latin typeface="Times New Roman" panose="02020603050405020304" pitchFamily="18" charset="0"/>
                <a:cs typeface="Times New Roman" panose="02020603050405020304" pitchFamily="18" charset="0"/>
              </a:rPr>
              <a:t>2. Non-Functional </a:t>
            </a:r>
            <a:r>
              <a:rPr lang="en-GB" b="1" dirty="0" smtClean="0">
                <a:latin typeface="Times New Roman" panose="02020603050405020304" pitchFamily="18" charset="0"/>
                <a:cs typeface="Times New Roman" panose="02020603050405020304" pitchFamily="18" charset="0"/>
              </a:rPr>
              <a:t>Requirements</a:t>
            </a:r>
          </a:p>
          <a:p>
            <a:pPr marL="0" indent="0">
              <a:buNone/>
            </a:pPr>
            <a:endParaRPr lang="en-GB" b="1"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These specify the quality attributes and system performance expectations:</a:t>
            </a:r>
          </a:p>
          <a:p>
            <a:r>
              <a:rPr lang="en-GB" b="1" dirty="0">
                <a:latin typeface="Times New Roman" panose="02020603050405020304" pitchFamily="18" charset="0"/>
                <a:cs typeface="Times New Roman" panose="02020603050405020304" pitchFamily="18" charset="0"/>
              </a:rPr>
              <a:t>Performance:</a:t>
            </a:r>
            <a:r>
              <a:rPr lang="en-GB" dirty="0">
                <a:latin typeface="Times New Roman" panose="02020603050405020304" pitchFamily="18" charset="0"/>
                <a:cs typeface="Times New Roman" panose="02020603050405020304" pitchFamily="18" charset="0"/>
              </a:rPr>
              <a:t> The app should load quickly and handle multiple users simultaneously without lag.</a:t>
            </a:r>
          </a:p>
          <a:p>
            <a:r>
              <a:rPr lang="en-GB" b="1" dirty="0">
                <a:latin typeface="Times New Roman" panose="02020603050405020304" pitchFamily="18" charset="0"/>
                <a:cs typeface="Times New Roman" panose="02020603050405020304" pitchFamily="18" charset="0"/>
              </a:rPr>
              <a:t>Usability:</a:t>
            </a:r>
            <a:r>
              <a:rPr lang="en-GB" dirty="0">
                <a:latin typeface="Times New Roman" panose="02020603050405020304" pitchFamily="18" charset="0"/>
                <a:cs typeface="Times New Roman" panose="02020603050405020304" pitchFamily="18" charset="0"/>
              </a:rPr>
              <a:t> The interface must be intuitive, simple, and easy for all types of users.</a:t>
            </a:r>
          </a:p>
          <a:p>
            <a:r>
              <a:rPr lang="en-GB" b="1" dirty="0">
                <a:latin typeface="Times New Roman" panose="02020603050405020304" pitchFamily="18" charset="0"/>
                <a:cs typeface="Times New Roman" panose="02020603050405020304" pitchFamily="18" charset="0"/>
              </a:rPr>
              <a:t>Reliability:</a:t>
            </a:r>
            <a:r>
              <a:rPr lang="en-GB" dirty="0">
                <a:latin typeface="Times New Roman" panose="02020603050405020304" pitchFamily="18" charset="0"/>
                <a:cs typeface="Times New Roman" panose="02020603050405020304" pitchFamily="18" charset="0"/>
              </a:rPr>
              <a:t> The system should ensure consistent tracking and data availability with minimal downtime.</a:t>
            </a:r>
          </a:p>
          <a:p>
            <a:r>
              <a:rPr lang="en-GB" b="1" dirty="0">
                <a:latin typeface="Times New Roman" panose="02020603050405020304" pitchFamily="18" charset="0"/>
                <a:cs typeface="Times New Roman" panose="02020603050405020304" pitchFamily="18" charset="0"/>
              </a:rPr>
              <a:t>Security:</a:t>
            </a:r>
            <a:r>
              <a:rPr lang="en-GB" dirty="0">
                <a:latin typeface="Times New Roman" panose="02020603050405020304" pitchFamily="18" charset="0"/>
                <a:cs typeface="Times New Roman" panose="02020603050405020304" pitchFamily="18" charset="0"/>
              </a:rPr>
              <a:t> All user data and transactions must be encrypted and protected against unauthorized access.</a:t>
            </a:r>
          </a:p>
          <a:p>
            <a:r>
              <a:rPr lang="en-GB" b="1" dirty="0">
                <a:latin typeface="Times New Roman" panose="02020603050405020304" pitchFamily="18" charset="0"/>
                <a:cs typeface="Times New Roman" panose="02020603050405020304" pitchFamily="18" charset="0"/>
              </a:rPr>
              <a:t>Scalability:</a:t>
            </a:r>
            <a:r>
              <a:rPr lang="en-GB" dirty="0">
                <a:latin typeface="Times New Roman" panose="02020603050405020304" pitchFamily="18" charset="0"/>
                <a:cs typeface="Times New Roman" panose="02020603050405020304" pitchFamily="18" charset="0"/>
              </a:rPr>
              <a:t> The system should support future expansion with more users and delivery areas.</a:t>
            </a:r>
          </a:p>
          <a:p>
            <a:r>
              <a:rPr lang="en-GB" b="1" dirty="0">
                <a:latin typeface="Times New Roman" panose="02020603050405020304" pitchFamily="18" charset="0"/>
                <a:cs typeface="Times New Roman" panose="02020603050405020304" pitchFamily="18" charset="0"/>
              </a:rPr>
              <a:t>Compatibility:</a:t>
            </a:r>
            <a:r>
              <a:rPr lang="en-GB" dirty="0">
                <a:latin typeface="Times New Roman" panose="02020603050405020304" pitchFamily="18" charset="0"/>
                <a:cs typeface="Times New Roman" panose="02020603050405020304" pitchFamily="18" charset="0"/>
              </a:rPr>
              <a:t> The app should work seamlessly across Android and iOS devices.</a:t>
            </a:r>
          </a:p>
          <a:p>
            <a:endParaRPr lang="en-GB" dirty="0"/>
          </a:p>
        </p:txBody>
      </p:sp>
    </p:spTree>
    <p:extLst>
      <p:ext uri="{BB962C8B-B14F-4D97-AF65-F5344CB8AC3E}">
        <p14:creationId xmlns:p14="http://schemas.microsoft.com/office/powerpoint/2010/main" val="271154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1"/>
                </a:solidFill>
                <a:latin typeface="Times New Roman" panose="02020603050405020304" pitchFamily="18" charset="0"/>
                <a:cs typeface="Times New Roman" panose="02020603050405020304" pitchFamily="18" charset="0"/>
              </a:rPr>
              <a:t>Future Enhancements</a:t>
            </a:r>
            <a:r>
              <a:rPr lang="en-GB" b="1" dirty="0"/>
              <a:t/>
            </a:r>
            <a:br>
              <a:rPr lang="en-GB" b="1" dirty="0"/>
            </a:br>
            <a:endParaRPr lang="en-GB" dirty="0"/>
          </a:p>
        </p:txBody>
      </p:sp>
      <p:sp>
        <p:nvSpPr>
          <p:cNvPr id="3" name="Content Placeholder 2"/>
          <p:cNvSpPr>
            <a:spLocks noGrp="1"/>
          </p:cNvSpPr>
          <p:nvPr>
            <p:ph idx="1"/>
          </p:nvPr>
        </p:nvSpPr>
        <p:spPr/>
        <p:txBody>
          <a:bodyPr/>
          <a:lstStyle/>
          <a:p>
            <a:r>
              <a:rPr lang="en-GB" dirty="0" smtClean="0">
                <a:latin typeface="Times New Roman" panose="02020603050405020304" pitchFamily="18" charset="0"/>
                <a:cs typeface="Times New Roman" panose="02020603050405020304" pitchFamily="18" charset="0"/>
              </a:rPr>
              <a:t>Add </a:t>
            </a:r>
            <a:r>
              <a:rPr lang="en-GB" dirty="0">
                <a:latin typeface="Times New Roman" panose="02020603050405020304" pitchFamily="18" charset="0"/>
                <a:cs typeface="Times New Roman" panose="02020603050405020304" pitchFamily="18" charset="0"/>
              </a:rPr>
              <a:t>advanced route optimization using AI for faster deliveries.</a:t>
            </a:r>
          </a:p>
          <a:p>
            <a:r>
              <a:rPr lang="en-GB" dirty="0">
                <a:latin typeface="Times New Roman" panose="02020603050405020304" pitchFamily="18" charset="0"/>
                <a:cs typeface="Times New Roman" panose="02020603050405020304" pitchFamily="18" charset="0"/>
              </a:rPr>
              <a:t>Integrate multiple payment gateways and loyalty points system.</a:t>
            </a:r>
          </a:p>
          <a:p>
            <a:r>
              <a:rPr lang="en-GB" dirty="0">
                <a:latin typeface="Times New Roman" panose="02020603050405020304" pitchFamily="18" charset="0"/>
                <a:cs typeface="Times New Roman" panose="02020603050405020304" pitchFamily="18" charset="0"/>
              </a:rPr>
              <a:t>Include chat support between customers and couriers.</a:t>
            </a:r>
          </a:p>
          <a:p>
            <a:r>
              <a:rPr lang="en-GB" dirty="0">
                <a:latin typeface="Times New Roman" panose="02020603050405020304" pitchFamily="18" charset="0"/>
                <a:cs typeface="Times New Roman" panose="02020603050405020304" pitchFamily="18" charset="0"/>
              </a:rPr>
              <a:t>Add multi-language and multi-currency support for wider reach.</a:t>
            </a:r>
          </a:p>
          <a:p>
            <a:r>
              <a:rPr lang="en-GB" dirty="0">
                <a:latin typeface="Times New Roman" panose="02020603050405020304" pitchFamily="18" charset="0"/>
                <a:cs typeface="Times New Roman" panose="02020603050405020304" pitchFamily="18" charset="0"/>
              </a:rPr>
              <a:t>Implement analytics dashboard for delivery performance insights.</a:t>
            </a:r>
          </a:p>
          <a:p>
            <a:r>
              <a:rPr lang="en-GB" dirty="0">
                <a:latin typeface="Times New Roman" panose="02020603050405020304" pitchFamily="18" charset="0"/>
                <a:cs typeface="Times New Roman" panose="02020603050405020304" pitchFamily="18" charset="0"/>
              </a:rPr>
              <a:t>Enable parcel insurance and digital signature verification.</a:t>
            </a:r>
          </a:p>
          <a:p>
            <a:r>
              <a:rPr lang="en-GB" dirty="0">
                <a:latin typeface="Times New Roman" panose="02020603050405020304" pitchFamily="18" charset="0"/>
                <a:cs typeface="Times New Roman" panose="02020603050405020304" pitchFamily="18" charset="0"/>
              </a:rPr>
              <a:t>Expand to web platform for admin and customer access.</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7091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021675"/>
            <a:ext cx="8911687" cy="1280890"/>
          </a:xfrm>
        </p:spPr>
        <p:txBody>
          <a:bodyPr>
            <a:noAutofit/>
          </a:bodyPr>
          <a:lstStyle/>
          <a:p>
            <a:r>
              <a:rPr lang="en-GB" sz="4400" b="1" dirty="0">
                <a:solidFill>
                  <a:schemeClr val="tx1"/>
                </a:solidFill>
                <a:latin typeface="Times New Roman" panose="02020603050405020304" pitchFamily="18" charset="0"/>
                <a:cs typeface="Times New Roman" panose="02020603050405020304" pitchFamily="18" charset="0"/>
              </a:rPr>
              <a:t>Deliverables</a:t>
            </a:r>
            <a:br>
              <a:rPr lang="en-GB" sz="4400" b="1" dirty="0">
                <a:solidFill>
                  <a:schemeClr val="tx1"/>
                </a:solidFill>
                <a:latin typeface="Times New Roman" panose="02020603050405020304" pitchFamily="18" charset="0"/>
                <a:cs typeface="Times New Roman" panose="02020603050405020304" pitchFamily="18" charset="0"/>
              </a:rPr>
            </a:br>
            <a:endParaRPr lang="en-GB" sz="44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GB" dirty="0" smtClean="0">
                <a:latin typeface="Times New Roman" panose="02020603050405020304" pitchFamily="18" charset="0"/>
                <a:cs typeface="Times New Roman" panose="02020603050405020304" pitchFamily="18" charset="0"/>
              </a:rPr>
              <a:t>Fully </a:t>
            </a:r>
            <a:r>
              <a:rPr lang="en-GB" dirty="0">
                <a:latin typeface="Times New Roman" panose="02020603050405020304" pitchFamily="18" charset="0"/>
                <a:cs typeface="Times New Roman" panose="02020603050405020304" pitchFamily="18" charset="0"/>
              </a:rPr>
              <a:t>functional </a:t>
            </a:r>
            <a:r>
              <a:rPr lang="en-GB" b="1" dirty="0">
                <a:latin typeface="Times New Roman" panose="02020603050405020304" pitchFamily="18" charset="0"/>
                <a:cs typeface="Times New Roman" panose="02020603050405020304" pitchFamily="18" charset="0"/>
              </a:rPr>
              <a:t>Flutter mobile app</a:t>
            </a:r>
            <a:r>
              <a:rPr lang="en-GB" dirty="0">
                <a:latin typeface="Times New Roman" panose="02020603050405020304" pitchFamily="18" charset="0"/>
                <a:cs typeface="Times New Roman" panose="02020603050405020304" pitchFamily="18" charset="0"/>
              </a:rPr>
              <a:t> (Android &amp; iOS).</a:t>
            </a:r>
          </a:p>
          <a:p>
            <a:r>
              <a:rPr lang="en-GB" b="1" dirty="0">
                <a:latin typeface="Times New Roman" panose="02020603050405020304" pitchFamily="18" charset="0"/>
                <a:cs typeface="Times New Roman" panose="02020603050405020304" pitchFamily="18" charset="0"/>
              </a:rPr>
              <a:t>Admin dashboard</a:t>
            </a:r>
            <a:r>
              <a:rPr lang="en-GB" dirty="0">
                <a:latin typeface="Times New Roman" panose="02020603050405020304" pitchFamily="18" charset="0"/>
                <a:cs typeface="Times New Roman" panose="02020603050405020304" pitchFamily="18" charset="0"/>
              </a:rPr>
              <a:t> for order, user, and courier management.</a:t>
            </a:r>
          </a:p>
          <a:p>
            <a:r>
              <a:rPr lang="en-GB" b="1" dirty="0">
                <a:latin typeface="Times New Roman" panose="02020603050405020304" pitchFamily="18" charset="0"/>
                <a:cs typeface="Times New Roman" panose="02020603050405020304" pitchFamily="18" charset="0"/>
              </a:rPr>
              <a:t>Backend system</a:t>
            </a:r>
            <a:r>
              <a:rPr lang="en-GB" dirty="0">
                <a:latin typeface="Times New Roman" panose="02020603050405020304" pitchFamily="18" charset="0"/>
                <a:cs typeface="Times New Roman" panose="02020603050405020304" pitchFamily="18" charset="0"/>
              </a:rPr>
              <a:t> with database and API integrations.</a:t>
            </a:r>
          </a:p>
          <a:p>
            <a:r>
              <a:rPr lang="en-GB" b="1" dirty="0">
                <a:latin typeface="Times New Roman" panose="02020603050405020304" pitchFamily="18" charset="0"/>
                <a:cs typeface="Times New Roman" panose="02020603050405020304" pitchFamily="18" charset="0"/>
              </a:rPr>
              <a:t>User documentation</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training materials</a:t>
            </a:r>
            <a:r>
              <a:rPr lang="en-GB" dirty="0">
                <a:latin typeface="Times New Roman" panose="02020603050405020304" pitchFamily="18" charset="0"/>
                <a:cs typeface="Times New Roman" panose="02020603050405020304" pitchFamily="18" charset="0"/>
              </a:rPr>
              <a:t> for staff.</a:t>
            </a:r>
          </a:p>
          <a:p>
            <a:r>
              <a:rPr lang="en-GB" b="1" dirty="0">
                <a:latin typeface="Times New Roman" panose="02020603050405020304" pitchFamily="18" charset="0"/>
                <a:cs typeface="Times New Roman" panose="02020603050405020304" pitchFamily="18" charset="0"/>
              </a:rPr>
              <a:t>Testing reports</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deployment package</a:t>
            </a: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74744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981918"/>
            <a:ext cx="8911687" cy="860133"/>
          </a:xfrm>
        </p:spPr>
        <p:txBody>
          <a:bodyPr>
            <a:noAutofit/>
          </a:bodyPr>
          <a:lstStyle/>
          <a:p>
            <a:r>
              <a:rPr lang="en-GB" sz="4800" b="1" dirty="0">
                <a:solidFill>
                  <a:schemeClr val="tx1"/>
                </a:solidFill>
                <a:latin typeface="Times New Roman" panose="02020603050405020304" pitchFamily="18" charset="0"/>
                <a:cs typeface="Times New Roman" panose="02020603050405020304" pitchFamily="18" charset="0"/>
              </a:rPr>
              <a:t>Conclusion</a:t>
            </a:r>
            <a:br>
              <a:rPr lang="en-GB" sz="4800" b="1" dirty="0">
                <a:solidFill>
                  <a:schemeClr val="tx1"/>
                </a:solidFill>
                <a:latin typeface="Times New Roman" panose="02020603050405020304" pitchFamily="18" charset="0"/>
                <a:cs typeface="Times New Roman" panose="02020603050405020304" pitchFamily="18" charset="0"/>
              </a:rPr>
            </a:br>
            <a:endParaRPr lang="en-GB"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GB" sz="2000" dirty="0" smtClean="0">
                <a:latin typeface="Times New Roman" panose="02020603050405020304" pitchFamily="18" charset="0"/>
                <a:cs typeface="Times New Roman" panose="02020603050405020304" pitchFamily="18" charset="0"/>
              </a:rPr>
              <a:t>The </a:t>
            </a:r>
            <a:r>
              <a:rPr lang="en-GB" sz="2000" dirty="0">
                <a:latin typeface="Times New Roman" panose="02020603050405020304" pitchFamily="18" charset="0"/>
                <a:cs typeface="Times New Roman" panose="02020603050405020304" pitchFamily="18" charset="0"/>
              </a:rPr>
              <a:t>Flutter Parcel App is a reliable and user-friendly solution for managing and tracking parcel deliveries. It simplifies operations for courier companies, enhances transparency for customers, and ensures faster, more secure service. With its scalable architecture and potential for future enhancements, the app can grow into a comprehensive logistics platform that meets the evolving needs of modern delivery systems.</a:t>
            </a:r>
          </a:p>
        </p:txBody>
      </p:sp>
    </p:spTree>
    <p:extLst>
      <p:ext uri="{BB962C8B-B14F-4D97-AF65-F5344CB8AC3E}">
        <p14:creationId xmlns:p14="http://schemas.microsoft.com/office/powerpoint/2010/main" val="137121252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1859</TotalTime>
  <Words>920</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Times New Roman</vt:lpstr>
      <vt:lpstr>Wingdings 3</vt:lpstr>
      <vt:lpstr>Wisp</vt:lpstr>
      <vt:lpstr>PARCEL APP A modern mobile solution for parcel delivery and tracking</vt:lpstr>
      <vt:lpstr>INTRODUCTION</vt:lpstr>
      <vt:lpstr>PROBLEM STATEMENT  </vt:lpstr>
      <vt:lpstr>OBJECTIVES </vt:lpstr>
      <vt:lpstr>SCOPE</vt:lpstr>
      <vt:lpstr>FEASIBILITY STUDY</vt:lpstr>
      <vt:lpstr>METHODOLOGY </vt:lpstr>
      <vt:lpstr>ER-DAIGRAM</vt:lpstr>
      <vt:lpstr>GANTT CHART</vt:lpstr>
      <vt:lpstr>REQUIRMENT ANALYSIS</vt:lpstr>
      <vt:lpstr>PowerPoint Presentation</vt:lpstr>
      <vt:lpstr>Future Enhancements </vt:lpstr>
      <vt:lpstr>Deliverables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PARCEL APP A modern mobile solution for parcel delivery and tracking</dc:title>
  <dc:creator>DELL</dc:creator>
  <cp:lastModifiedBy>DELL</cp:lastModifiedBy>
  <cp:revision>9</cp:revision>
  <dcterms:created xsi:type="dcterms:W3CDTF">2025-11-06T09:20:29Z</dcterms:created>
  <dcterms:modified xsi:type="dcterms:W3CDTF">2025-11-17T03:10:34Z</dcterms:modified>
</cp:coreProperties>
</file>